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6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640080"/>
            <a:ext cx="3840480" cy="3840480"/>
          </a:xfrm>
          <a:prstGeom prst="ellipse">
            <a:avLst/>
          </a:prstGeom>
          <a:noFill/>
          <a:ln w="50800">
            <a:solidFill>
              <a:srgbClr val="B8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1828800"/>
            <a:ext cx="1463040" cy="1463040"/>
          </a:xfrm>
          <a:prstGeom prst="ellipse">
            <a:avLst/>
          </a:prstGeom>
          <a:noFill/>
          <a:ln w="25400">
            <a:solidFill>
              <a:srgbClr val="B8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81160" y="2057400"/>
            <a:ext cx="1005840" cy="1005840"/>
          </a:xfrm>
          <a:prstGeom prst="ellipse">
            <a:avLst/>
          </a:prstGeom>
          <a:noFill/>
          <a:ln w="19050">
            <a:solidFill>
              <a:srgbClr val="B8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B8E600"/>
                </a:solidFill>
                <a:latin typeface="Microsoft YaHei"/>
                <a:ea typeface="Microsoft YaHei"/>
              </a:rPr>
              <a:t>TennisVibe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网球生态小程序 · 项目介绍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9144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E6F7C8"/>
                </a:solidFill>
                <a:latin typeface="Microsoft YaHei"/>
                <a:ea typeface="Microsoft YaHei"/>
              </a:rPr>
              <a:t>WeChat Mini Program × Cloud Development · 体验闭环 + 交易闭环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7315200" cy="36576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技术栈   微信小程序 · 微信云开发 · 云函数 · 云数据库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当前迭代   约教练 MVP 闭环完成 ｜ 活动/支付/管理后台 进入下一阶段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项目代号   tennis-eco  ｜  AppID  wxd78e98cafe1dff67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2026 · Project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01 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为什么做 TennisVibe？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找教练难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749039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信息分散在朋友圈/微信群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缺乏统一的教练库与评价体系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554480"/>
            <a:ext cx="37490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554480"/>
            <a:ext cx="3749039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6002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约场地难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194560"/>
            <a:ext cx="3749039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档期、价格、可用时段不透明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排期冲突频发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7490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554480"/>
            <a:ext cx="3749039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6002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建圈子难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194560"/>
            <a:ext cx="3749039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球友匹配低效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活动组织缺少数字化工具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274552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🎯  项目目标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51959"/>
            <a:ext cx="137160" cy="137160"/>
          </a:xfrm>
          <a:prstGeom prst="ellipse">
            <a:avLst/>
          </a:prstGeom>
          <a:solidFill>
            <a:srgbClr val="B8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打造网球教练 / 场地 / 活动 三位一体的微信生态小程序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709159"/>
            <a:ext cx="137160" cy="137160"/>
          </a:xfrm>
          <a:prstGeom prst="ellipse">
            <a:avLst/>
          </a:prstGeom>
          <a:solidFill>
            <a:srgbClr val="B8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为球友提供「查 → 约 → 付 → 评」完整体验闭环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166359"/>
            <a:ext cx="137160" cy="137160"/>
          </a:xfrm>
          <a:prstGeom prst="ellipse">
            <a:avLst/>
          </a:prstGeom>
          <a:solidFill>
            <a:srgbClr val="B8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沉淀结构化数据，逐步接入支付、运营、商家管理能力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623559"/>
            <a:ext cx="137160" cy="137160"/>
          </a:xfrm>
          <a:prstGeom prst="ellipse">
            <a:avLst/>
          </a:prstGeom>
          <a:solidFill>
            <a:srgbClr val="B8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轻量起步：以微信云开发承载后端，零服务器运维成本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02 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三位一体的网球生态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74903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0">
                <a:solidFill>
                  <a:srgbClr val="333333"/>
                </a:solidFill>
                <a:latin typeface="Microsoft YaHei"/>
                <a:ea typeface="Microsoft YaHei"/>
              </a:rPr>
              <a:t>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球友 /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374903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查找教练 · 预约时段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下单支付 · 完成评价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749039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74903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0">
                <a:solidFill>
                  <a:srgbClr val="333333"/>
                </a:solidFill>
                <a:latin typeface="Microsoft YaHei"/>
                <a:ea typeface="Microsoft YaHei"/>
              </a:rPr>
              <a:t>👨‍🏫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6032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教练 / Coach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374903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上架资料 · 管理排期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接收订单 · 维护口碑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54480"/>
            <a:ext cx="3749039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374903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0">
                <a:solidFill>
                  <a:srgbClr val="333333"/>
                </a:solidFill>
                <a:latin typeface="Microsoft YaHei"/>
                <a:ea typeface="Microsoft YaHei"/>
              </a:rPr>
              <a:t>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场地主 / 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74903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档期发布 · 订单管理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(筹备中，二期接入)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74552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🌐  生态关系：球友、教练、场地相互连接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球友在 TennisVibe 内即可完成：浏览教练 → 选择时段 → 创建订单 → 微信支付 → 上场训练 → 课后评价。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教练侧支持：申请入驻 → 平台审核 → 上架资料 → 维护排期 → 接收并完成订单。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场地侧作为后续扩展角色，将共享同一套「排期 + 订单」原子能力，复用底层数据模型。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03  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微信原生 + 云开发一体化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6400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74903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A37"/>
                </a:solidFill>
                <a:latin typeface="Microsoft YaHei"/>
                <a:ea typeface="Microsoft YaHei"/>
              </a:rPr>
              <a:t>微信小程序原生框架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WXML + WXSS + JS(ES6+)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6324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21 个页面 / 3 个 tabBar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8 个自定义组件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5196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基础库 3.3.4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代码风格 2 空格缩进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749039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554480"/>
            <a:ext cx="3749039" cy="6400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600200"/>
            <a:ext cx="374903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874519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A37"/>
                </a:solidFill>
                <a:latin typeface="Microsoft YaHei"/>
                <a:ea typeface="Microsoft YaHei"/>
              </a:rPr>
              <a:t>微信云开发 (CloudBase)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46888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3774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云函数 8 个模块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06324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97180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云数据库 NoSQL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65760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56616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云存储（头像/图片）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425196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160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云调用 / 微信开放接口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484632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7548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免运维、自动弹性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554480"/>
            <a:ext cx="3749039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1554480"/>
            <a:ext cx="3749039" cy="6400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600200"/>
            <a:ext cx="374903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Microsoft YaHei"/>
                <a:ea typeface="Microsoft YaHei"/>
              </a:rPr>
              <a:t>工具链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1874519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A37"/>
                </a:solidFill>
                <a:latin typeface="Microsoft YaHei"/>
                <a:ea typeface="Microsoft YaHei"/>
              </a:rPr>
              <a:t>开发 &amp; 协作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46888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23774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微信开发者工具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306324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97180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VSCode + 编辑器插件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65760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356616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npm（云函数依赖）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425196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4160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Git 版本管理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4846320"/>
            <a:ext cx="73152" cy="3657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47548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Claude Code 协作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04  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端 → 云函数 → 云数据库 三层结构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7432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2743200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小程序端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Pages (21)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4688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·  首页 / 网球圈 / 我的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·  教练 列表·详情·预约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·  活动 列表·详情·创建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·  订单 列表·详情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·  评价 创建·列表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·  用户 登录·资料·设置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Components (8)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24688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rating-stars · status-badge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empty-state · price-display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skeleton-loader · user-card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search-bar · time-slot-picker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508760"/>
            <a:ext cx="45720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508760"/>
            <a:ext cx="4572000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云函数层（8 模块 / 34 actions）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19456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24028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6032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4 actions · 登录/资料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79" y="219456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79" y="224028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coach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79" y="256032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7 actions · 申请/审核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3063239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108959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428999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6 actions · 创建/支付/取消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79" y="3063239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79" y="3108959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79" y="3428999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4 actions · 评价/统计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393192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97764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29768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4 actions · 时段原子预约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79" y="393192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79" y="397764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79" y="429768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3 actions · 列表/详情/搜索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0060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84632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activity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16636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3 actions · 占位中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79" y="480060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E6F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79" y="484632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notification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79" y="5166360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3 actions · 已读/未读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1508760"/>
            <a:ext cx="333756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0" y="1508760"/>
            <a:ext cx="3337560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15544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云数据库 / 存储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10312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210312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users · 用户档案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2487168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2487168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coaches · 教练资料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871215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2871215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orders · 订单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3255263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3255263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reviews · 评价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3639311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3639311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schedules · 排期表（多态）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402336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402336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venues · 场地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407408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4407408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activities · 活动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4791456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4791456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notifications · 通知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5175504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5175504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（含云存储：头像/认证图/评价图）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365760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B8E60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365760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B8E60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调用链路：wx.cloud.callFunction({ name, data:{ action, ... } }) → 云函数 switch 路由 → actions/&lt;name&gt;.js → db.collection()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05  核心业务流程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球友下单 → 教练完成 → 课后评价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① 浏览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18288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首页 / 教练列表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筛选 / 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606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8288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920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② 选时段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68880"/>
            <a:ext cx="18288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time-slot-picker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查看 30min 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06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20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③ 下单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468880"/>
            <a:ext cx="18288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创建订单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原子占用排期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606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920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④ 支付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68880"/>
            <a:ext cx="18288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模拟支付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(二期接入微信支付)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06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⑤ 履约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68880"/>
            <a:ext cx="18288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教练确认 / 用户到场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确认完成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606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8288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1920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⑥ 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468880"/>
            <a:ext cx="18288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评分 + 文字 + 图片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沉淀教练口碑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23360"/>
            <a:ext cx="11274552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📌  关键数据约定（贯穿全链路）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金额单位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5720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一律以「分（cents）」存储/传输；展示时 ÷ 100 保留两位小数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57200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时间格式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5720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Date / YYYY-MM-DD / { start:'HH:mm', end:'HH:mm' } 三种形态混用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7492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订单状态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0749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pending_payment → paid → completed → reviewed；cancelled / refunded 并列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07492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唯一性约束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50749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coaches.user_id、reviews.order_id（1 单 1 评）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错误码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57784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0 成功 / 9001 未知 action / 9002 参数错 / 9999 服务器异常 / 2001 业务冲突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06  关键模块 · 教练闭环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申请 → 审核 → 选角色 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🔁  教练入驻流程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2140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1. 用户在「我的」发起教练申请，填写资料 + 上传认证图片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2432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2. 云函数 coach/applyCoach 校验字段 + 去重（user_id 唯一）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2724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3. 状态置为 pending，等待平台审核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3016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4. 管理员在云开发控制台（或二期管理后台）调用 approve / reject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3308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5. 状态变为 active，通知模块推送结果给用户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3600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6. 教练可被球友在列表/搜索中检索到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3892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292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7. 球友选择教练 → 选择时段 → 创建订单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41848"/>
            <a:ext cx="54864" cy="274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8. 订单完成后产生评价，回写教练平均分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63040"/>
            <a:ext cx="5605272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💡  关键设计点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状态机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0116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pending / active / suspended 三态；切换由云函数集中控制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517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数据去重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6517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coaches.user_id 唯一索引 → 2001 业务冲突码 → 友好提示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角色字段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291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users.role 包含 user / coach / venue_owner / admin 多个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审核权限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931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云函数层强制校验 admin 角色；前端入口按角色显隐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720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排期复用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572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schedules 表以 resource_type(coach/venue) 多态承载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12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评价回写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212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review.create 走 db.runTransaction 保证评价与统计一致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07  数据模型设计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8 张核心集合（database/collections.json）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459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用户档案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_openid, nickname, avatar, role, phone, 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2763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coaches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教练扩展资料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user_id→users, level, specialties[], hourly_rate, status, cert_imgs[]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163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346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订单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user_id, order_type, target_id, total_amount(分), status, schedule_slot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74320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163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346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order_id(唯一), target_type, target_id, rating(1-5), content, images[]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319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050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schedules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0233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排期（多态）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3484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resource_type, resource_id, date, slots[{start,end,booked}])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9319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93192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0050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venues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233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场地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3484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name, address, geo, price_per_hour, facilities[]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12064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12064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1937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activities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21208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活动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2356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type, title, start_time, location, max_players, fee, 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2064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120640"/>
            <a:ext cx="137160" cy="105156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1937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21208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</a:rPr>
              <a:t>通知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62356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user_id, type, title, content, read, created_at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08  项目目录结构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前端 / 云函数 / 数据库 三段式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657600" cy="4617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657600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Microsoft YaHei"/>
                <a:ea typeface="Microsoft YaHei"/>
              </a:rPr>
              <a:t>miniprogram/  小程序前端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app.js / app.json / app.wxss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2A37"/>
                </a:solidFill>
                <a:latin typeface="Microsoft YaHei"/>
                <a:ea typeface="Microsoft YaHei"/>
              </a:rPr>
              <a:t>common/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946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constants/  (5 个业务枚举)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2549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images/     (图标、tabBar)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8152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styles/     (theme / global)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text/       (协议 markdown)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359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└── mock-data.js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962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components/  (8 个自定义组件)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0565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2A37"/>
                </a:solidFill>
                <a:latin typeface="Microsoft YaHei"/>
                <a:ea typeface="Microsoft YaHei"/>
              </a:rPr>
              <a:t>pages/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6168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2A37"/>
                </a:solidFill>
                <a:latin typeface="Microsoft YaHei"/>
                <a:ea typeface="Microsoft YaHei"/>
              </a:rPr>
              <a:t>  ├── index/   tennis-circle/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2A37"/>
                </a:solidFill>
                <a:latin typeface="Microsoft YaHei"/>
                <a:ea typeface="Microsoft YaHei"/>
              </a:rPr>
              <a:t>  ├── coach/   activity/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7375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2A37"/>
                </a:solidFill>
                <a:latin typeface="Microsoft YaHei"/>
                <a:ea typeface="Microsoft YaHei"/>
              </a:rPr>
              <a:t>  ├── order/   review/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978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└── user/    (login/profile/...)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8581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services/  (8 个 service 封装)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4184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utils/    (request/auth/date/...)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1508760"/>
            <a:ext cx="3657600" cy="4617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1508760"/>
            <a:ext cx="3657600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Microsoft YaHei"/>
                <a:ea typeface="Microsoft YaHei"/>
              </a:rPr>
              <a:t>cloudfunctions/  云函数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05740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user/         index.js + actions/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31343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login.js  getProfile.js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56946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updateProfile.js  getMyInfo.js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82549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coach/        7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08152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list/detail/search/applyCoach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33756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└── approve/reject/getMyStatus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59359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order/        6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84962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review/       4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10565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schedule/     4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36168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venue/        3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6177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activity/     占位（内联）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87375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notification/ 占位（内联）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12978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统一风格: exports.main = (event)=&gt;{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38581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switch(event.action) { case ... } 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508760"/>
            <a:ext cx="3657600" cy="4617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1508760"/>
            <a:ext cx="3657600" cy="4572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Microsoft YaHei"/>
                <a:ea typeface="Microsoft YaHei"/>
              </a:rPr>
              <a:t>database/  数据库 &amp; 文档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205740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collections.json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31343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· 8 张集合 schema 定义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56946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· 含字段类型 / 必填约束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82549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indexes.json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08152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· 唯一索引: _openid, user_id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33756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· 复合索引: status+created_at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359359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init-data/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84962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coaches.json  种子数据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10565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└── venues.json   种子数据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36168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6177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docs/  阶段规划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87375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phase1-plan.md  体验闭环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12978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├── phase2-plan.md  交易闭环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38581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└── phase3-plan.md  运营闭环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64184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CLAUDE.md  项目知识库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09  当前完成度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约教练 MVP 闭环 31/34 actions 已实现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68580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云函数模块完成度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1671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2167128"/>
            <a:ext cx="3657600" cy="1828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574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4 /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coach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6243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624328"/>
            <a:ext cx="3657600" cy="1828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5146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7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718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order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0815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3081528"/>
            <a:ext cx="3657600" cy="1828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9718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6 /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5387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3538728"/>
            <a:ext cx="3657600" cy="1828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4290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4 /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schedule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9959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3995928"/>
            <a:ext cx="3657600" cy="1828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8862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4 /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venue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44531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0" y="4453128"/>
            <a:ext cx="3657600" cy="1828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3434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006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notification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9103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4910328"/>
            <a:ext cx="3657600" cy="18288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8006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2578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activity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5367528"/>
            <a:ext cx="3657600" cy="182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4560" y="5367528"/>
            <a:ext cx="0" cy="18288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2578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8A00"/>
                </a:solidFill>
                <a:latin typeface="Microsoft YaHei"/>
                <a:ea typeface="Microsoft YaHei"/>
              </a:rPr>
              <a:t>0 /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汇总：34 actions  ｜  31 已实现（91%）  ｜  3 占位（activity）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1508760"/>
            <a:ext cx="420624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8E600"/>
                </a:solidFill>
                <a:latin typeface="Microsoft YaHei"/>
                <a:ea typeface="Microsoft YaHei"/>
              </a:rPr>
              <a:t>✅ 已完成亮点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20116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0116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约教练全流程：申请→审核→预约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23774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2377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原子排期：条件更新+回滚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27432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2743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评价事务一致性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31089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108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8 个自定义组件沉淀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34747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4747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金额/时间/错误码统一约定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8404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mock-data 兜底，无云环境也可跑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434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8A00"/>
                </a:solidFill>
                <a:latin typeface="Microsoft YaHei"/>
                <a:ea typeface="Microsoft YaHei"/>
              </a:rPr>
              <a:t>⚠️  已知缺口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48463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8A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48463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activity 模块云函数 + 前端空壳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51206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8A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5120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首页「约球」入口未实现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539495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8A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539495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通知列表页面缺失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566927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8A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566927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真实微信支付未接入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0" y="59436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8A00"/>
                </a:solidFill>
                <a:latin typeface="Microsoft YaHei"/>
                <a:ea typeface="Microsoft YaHei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5943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管理员审核页面缺失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10  阶段路线图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三阶段闭环：体验 → 交易 → 运营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7315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1F2A37"/>
                </a:solidFill>
                <a:latin typeface="Microsoft YaHei"/>
                <a:ea typeface="Microsoft YaHe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体验闭环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活动模块真实化（云函数+前端）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首页「约球」入口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5760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通知列表页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已知问题修复（架构一致性）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mock-data 保留作降级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749039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554480"/>
            <a:ext cx="3749039" cy="7315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62763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1F2A37"/>
                </a:solidFill>
                <a:latin typeface="Microsoft YaHei"/>
                <a:ea typeface="Microsoft YaHe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011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交易闭环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46888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46888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真实微信支付接入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06324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管理员审核后台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65760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65760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订单退款流程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5196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25196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评价回复功能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4632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84632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退款通知 + 消息触达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554480"/>
            <a:ext cx="3749039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1554480"/>
            <a:ext cx="3749039" cy="73152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62763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1F2A37"/>
                </a:solidFill>
                <a:latin typeface="Microsoft YaHei"/>
                <a:ea typeface="Microsoft YaHei"/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011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运营闭环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46888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A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46888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数据看板（订单/GMV/转化）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A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306324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营销工具（优惠券/拼团）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65760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A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65760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商家自助管理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25196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A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25196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智能推荐（教练/场地/活动）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846320"/>
            <a:ext cx="228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A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84632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会员体系与积分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617220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B8E60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617220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D6CDF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11  风险 &amp; 质量保证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架构师视角的关键风险点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37160" cy="141732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数据一致性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6916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916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风险·高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029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订单创建与排期占用、评价写入与统计回写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需要事务保证；当前 schedule.bookSlot 已用条件更新+回滚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137160" cy="1417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276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架构一致性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16916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6916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风险·中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029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activity / notification 云函数未拆 actions/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与 user/coach 等模块风格不一致，需要补齐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37160" cy="1417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8211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接口降级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24612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2461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风险·中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5029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云函数异常时 mock-data 兜底，但 service 层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showError 默认值不统一，存在误弹 toast 风险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08960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108960"/>
            <a:ext cx="137160" cy="141732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8211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支付/退款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0" y="324612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2461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风险·高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11880"/>
            <a:ext cx="5029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当前为模拟支付，二期接入需对接商户号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+ 异步回调 + 对账，链路复杂度上升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63440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663440"/>
            <a:ext cx="137160" cy="1417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3659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权限与审核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480060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48006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风险·中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66360"/>
            <a:ext cx="5029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管理员入口仅在云函数校验，前端缺管理后台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存在「数据裸跑」风险，phase2 必须补齐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663440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663440"/>
            <a:ext cx="137160" cy="14173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73659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Microsoft YaHei"/>
                <a:ea typeface="Microsoft YaHei"/>
              </a:rPr>
              <a:t>包体积/性能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0" y="480060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48006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风险·低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166360"/>
            <a:ext cx="5029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mock-data 完整保留 + 8 个页面级 service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首次加载可能偏慢，可通过分包与按需加载优化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Microsoft YaHei"/>
                <a:ea typeface="Microsoft YaHei"/>
              </a:rPr>
              <a:t>12  协作 &amp; 工程实践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</a:rPr>
              <a:t>约定、文档、自动化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📐  代码 &amp; 命名规范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云函数：小写单数名词 (user/coach/order)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41448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入口：exports.main = async (event, context)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496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2549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Action 文件：actions/&lt;actionName&gt;.js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9544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954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Service：暴露 XxxService 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93591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93591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业务常量：大写枚举 + _MAP(label/color)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77639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金额：永远「分」存储，展示 ÷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61688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6168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接口：读用 get() 显式 showError:false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45736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4573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      写用 post() 走 loading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9783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E60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129783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降级：云函数失败 → mock-data → toast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508760"/>
            <a:ext cx="5513832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8E600"/>
                </a:solidFill>
                <a:latin typeface="Microsoft YaHei"/>
                <a:ea typeface="Microsoft YaHei"/>
              </a:rPr>
              <a:t>📚  项目文档 &amp; 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574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CLAUDE.md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0574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项目知识库 / 架构锚点（反推维护）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14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vibe-01/02/03.md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514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阶段性 vibe 记录 / 设计决策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971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vibe-all.md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71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合并版本（完整对话流）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29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phase1/2/3-plan.md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4290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三期功能规划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8862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CODE_REVIEW_REPORT.md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8862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代码评审报告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3434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project.config.json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3434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小程序工程配置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800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.cloudbase/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800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云开发调试配置（debug.json）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257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</a:rPr>
              <a:t>docs/ 目录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257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所有阶段规划集中存放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TennisVibe · 网球生态小程序项目介绍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6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1828800"/>
            <a:ext cx="3840480" cy="3840480"/>
          </a:xfrm>
          <a:prstGeom prst="ellipse">
            <a:avLst/>
          </a:prstGeom>
          <a:noFill/>
          <a:ln w="50800">
            <a:solidFill>
              <a:srgbClr val="B8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3017520"/>
            <a:ext cx="1463040" cy="1463040"/>
          </a:xfrm>
          <a:prstGeom prst="ellipse">
            <a:avLst/>
          </a:prstGeom>
          <a:noFill/>
          <a:ln w="25400">
            <a:solidFill>
              <a:srgbClr val="B8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81160" y="3246120"/>
            <a:ext cx="1005840" cy="1005840"/>
          </a:xfrm>
          <a:prstGeom prst="ellipse">
            <a:avLst/>
          </a:prstGeom>
          <a:noFill/>
          <a:ln w="19050">
            <a:solidFill>
              <a:srgbClr val="B8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B8E600"/>
                </a:solidFill>
                <a:latin typeface="Microsoft YaHei"/>
                <a:ea typeface="Microsoft YaHe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欢迎一起把 TennisVibe 打磨成更好的网球生态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项目代号：tennis-eco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AppID：wxd78e98cafe1dff67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基础库：3.3.4+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入口：miniprogramRoot = miniprogram/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E600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云函数根：cloudfunctionRoot = cloudfunctions/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Microsoft YaHei"/>
                <a:ea typeface="Microsoft YaHei"/>
              </a:rPr>
              <a:t>TennisVibe · Project Briefing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